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"/>
            <a:ext cx="2560320" cy="2560320"/>
          </a:xfrm>
          <a:prstGeom prst="rect">
            <a:avLst/>
          </a:prstGeom>
          <a:solidFill>
            <a:srgbClr val="1B4F8A">
              <a:alpha val="45000"/>
            </a:srgbClr>
          </a:solidFill>
          <a:ln w="12700">
            <a:solidFill>
              <a:srgbClr val="1B4F8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011680" cy="2011680"/>
          </a:xfrm>
          <a:prstGeom prst="rect">
            <a:avLst/>
          </a:prstGeom>
          <a:solidFill>
            <a:srgbClr val="4A90D9">
              <a:alpha val="35000"/>
            </a:srgbClr>
          </a:solidFill>
          <a:ln w="12700">
            <a:solidFill>
              <a:srgbClr val="4A90D9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Early-Exit ResNet-18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Efficient Edge Inference on Jetson AGX Orin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4114800" cy="27432"/>
          </a:xfrm>
          <a:prstGeom prst="rect">
            <a:avLst/>
          </a:prstGeom>
          <a:solidFill>
            <a:srgbClr val="D9DFE8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06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신뢰도 기반 조기 종료(Early Exit) 전략으로 정확도 손실 최소화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FP16 분할 엔진으로 엣지 디바이스 추론 최적화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벤치마크 · 평균 1.40× / P50 1.81× 속도 향상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709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Design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구조 — Plain ResNet-18 vs Early Exit ResNet-18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backbone · CIFAR-10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65760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594360"/>
            <a:ext cx="3657600" cy="365760"/>
          </a:xfrm>
          <a:prstGeom prst="rect">
            <a:avLst/>
          </a:prstGeom>
          <a:solidFill>
            <a:srgbClr val="1B4F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ResNet-18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32004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(Conv 3×3, BN, ReLU)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435608"/>
            <a:ext cx="27432" cy="11887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32004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Layer1  ×2  BasicBlock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65960" y="1938528"/>
            <a:ext cx="27432" cy="11887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57400"/>
            <a:ext cx="32004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057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Layer2  ×2  BasicBlock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2441448"/>
            <a:ext cx="27432" cy="11887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60320"/>
            <a:ext cx="32004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560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Layer3  ×2  BasicBlock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2944368"/>
            <a:ext cx="27432" cy="11887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63240"/>
            <a:ext cx="320040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  ×2  BasicBlock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65960" y="3447288"/>
            <a:ext cx="27432" cy="11887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66160"/>
            <a:ext cx="3200400" cy="384048"/>
          </a:xfrm>
          <a:prstGeom prst="rect">
            <a:avLst/>
          </a:prstGeom>
          <a:solidFill>
            <a:srgbClr val="0A8A6E"/>
          </a:solidFill>
          <a:ln w="12700">
            <a:solidFill>
              <a:srgbClr val="0A8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 → FC(10)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65960" y="3950208"/>
            <a:ext cx="27432" cy="11887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069080"/>
            <a:ext cx="32004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069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88.60% Acc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594360"/>
            <a:ext cx="452628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89120" y="594360"/>
            <a:ext cx="4526280" cy="365760"/>
          </a:xfrm>
          <a:prstGeom prst="rect">
            <a:avLst/>
          </a:prstGeom>
          <a:solidFill>
            <a:srgbClr val="E87A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ResNet-18  (3-segment)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1051560"/>
            <a:ext cx="2926080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10515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(Conv 3×3, BN, ReLU)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1380744"/>
            <a:ext cx="27432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1453896"/>
            <a:ext cx="2926080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17720" y="14538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Layer1  ×2  BasicBlock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1783080"/>
            <a:ext cx="27432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1856232"/>
            <a:ext cx="2926080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17720" y="18562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Layer2  ×2  BasicBlock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9320" y="2185416"/>
            <a:ext cx="27432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2258568"/>
            <a:ext cx="1874520" cy="329184"/>
          </a:xfrm>
          <a:prstGeom prst="rect">
            <a:avLst/>
          </a:prstGeom>
          <a:solidFill>
            <a:srgbClr val="E87A2F"/>
          </a:solidFill>
          <a:ln w="12700">
            <a:solidFill>
              <a:srgbClr val="E87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2258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ExitHead 1 → EE1 Output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98080" y="2587752"/>
            <a:ext cx="27432" cy="73152"/>
          </a:xfrm>
          <a:prstGeom prst="rect">
            <a:avLst/>
          </a:prstGeom>
          <a:solidFill>
            <a:srgbClr val="E87A2F"/>
          </a:solidFill>
          <a:ln w="12700">
            <a:solidFill>
              <a:srgbClr val="E87A2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2660904"/>
            <a:ext cx="2926080" cy="329184"/>
          </a:xfrm>
          <a:prstGeom prst="rect">
            <a:avLst/>
          </a:prstGeom>
          <a:solidFill>
            <a:srgbClr val="5B7FCC"/>
          </a:solidFill>
          <a:ln w="12700">
            <a:solidFill>
              <a:srgbClr val="5B7F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17720" y="26609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Layer3  ×2  BasicBlock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2990088"/>
            <a:ext cx="27432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12280" y="3063240"/>
            <a:ext cx="1874520" cy="329184"/>
          </a:xfrm>
          <a:prstGeom prst="rect">
            <a:avLst/>
          </a:prstGeom>
          <a:solidFill>
            <a:srgbClr val="E87A2F"/>
          </a:solidFill>
          <a:ln w="12700">
            <a:solidFill>
              <a:srgbClr val="E87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12280" y="306324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ExitHead 2 → EE2 Output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98080" y="3392424"/>
            <a:ext cx="27432" cy="73152"/>
          </a:xfrm>
          <a:prstGeom prst="rect">
            <a:avLst/>
          </a:prstGeom>
          <a:solidFill>
            <a:srgbClr val="E87A2F"/>
          </a:solidFill>
          <a:ln w="12700">
            <a:solidFill>
              <a:srgbClr val="E87A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17720" y="3465576"/>
            <a:ext cx="2926080" cy="329184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617720" y="34655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  ×2  BasicBlock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89320" y="3794760"/>
            <a:ext cx="27432" cy="73152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17720" y="3867912"/>
            <a:ext cx="2926080" cy="329184"/>
          </a:xfrm>
          <a:prstGeom prst="rect">
            <a:avLst/>
          </a:prstGeom>
          <a:solidFill>
            <a:srgbClr val="0A8A6E"/>
          </a:solidFill>
          <a:ln w="12700">
            <a:solidFill>
              <a:srgbClr val="0A8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617720" y="38679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 → FC(10) → Output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90288" y="1005840"/>
            <a:ext cx="54864" cy="12984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34840" y="1005840"/>
            <a:ext cx="20116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90288" y="2697480"/>
            <a:ext cx="54864" cy="804672"/>
          </a:xfrm>
          <a:prstGeom prst="rect">
            <a:avLst/>
          </a:prstGeom>
          <a:solidFill>
            <a:srgbClr val="5B7FCC"/>
          </a:solidFill>
          <a:ln w="12700">
            <a:solidFill>
              <a:srgbClr val="5B7F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34840" y="2697480"/>
            <a:ext cx="201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7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590288" y="3904488"/>
            <a:ext cx="54864" cy="804672"/>
          </a:xfrm>
          <a:prstGeom prst="rect">
            <a:avLst/>
          </a:prstGeom>
          <a:solidFill>
            <a:srgbClr val="3A6B8A"/>
          </a:solidFill>
          <a:ln w="12700">
            <a:solidFill>
              <a:srgbClr val="3A6B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34840" y="3904488"/>
            <a:ext cx="201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3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617720" y="4617720"/>
            <a:ext cx="4251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87.10% Acc  (−1.5%)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389120" y="4846320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≥ threshold → 조기 종료 / 미달 → 다음 세그먼트로 전달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— Training Curves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CosineAnnealingLR · 200 epochs · CIFAR-10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42519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594360"/>
            <a:ext cx="4251960" cy="320040"/>
          </a:xfrm>
          <a:prstGeom prst="rect">
            <a:avLst/>
          </a:prstGeom>
          <a:solidFill>
            <a:srgbClr val="E87A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ResNet-18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32688"/>
            <a:ext cx="419709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594360"/>
            <a:ext cx="42519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594360"/>
            <a:ext cx="4251960" cy="320040"/>
          </a:xfrm>
          <a:prstGeom prst="rect">
            <a:avLst/>
          </a:prstGeom>
          <a:solidFill>
            <a:srgbClr val="1B4F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ResNet-18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932688"/>
            <a:ext cx="4197096" cy="3749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8600" y="486460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ResNet-18 Final: </a:t>
            </a:r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87.10%  EE1 92.0%  EE2 88.2%  </a:t>
            </a:r>
            <a:pPr algn="ctr" indent="0" marL="0">
              <a:buNone/>
            </a:pPr>
            <a:r>
              <a:rPr lang="en-US" sz="1000" dirty="0">
                <a:solidFill>
                  <a:srgbClr val="D9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0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ResNet-18 Final: </a:t>
            </a:r>
            <a:pPr algn="ct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탐색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ResNet-18 · CIFAR-10 test 10,000 samples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42519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594360"/>
            <a:ext cx="4251960" cy="320040"/>
          </a:xfrm>
          <a:prstGeom prst="rect">
            <a:avLst/>
          </a:prstGeom>
          <a:solidFill>
            <a:srgbClr val="0A8A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기반 — Exit Rate &amp; Accuracy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32688"/>
            <a:ext cx="4197096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63440" y="594360"/>
            <a:ext cx="425196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594360"/>
            <a:ext cx="4251960" cy="320040"/>
          </a:xfrm>
          <a:prstGeom prst="rect">
            <a:avLst/>
          </a:prstGeom>
          <a:solidFill>
            <a:srgbClr val="1B4F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FP16 — Latency &amp; Speedup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932688"/>
            <a:ext cx="4197096" cy="3657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8600" y="4645152"/>
            <a:ext cx="8686800" cy="384048"/>
          </a:xfrm>
          <a:prstGeom prst="rect">
            <a:avLst/>
          </a:prstGeom>
          <a:solidFill>
            <a:srgbClr val="FFF8E1"/>
          </a:solidFill>
          <a:ln w="19050">
            <a:solidFill>
              <a:srgbClr val="FFD54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threshold = 0.80 선택: </a:t>
            </a:r>
            <a:pPr indent="0" marL="0">
              <a:buNone/>
            </a:pPr>
            <a:r>
              <a:rPr lang="en-US" sz="1000" dirty="0">
                <a:solidFill>
                  <a:srgbClr val="5C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EE1 83.2% 조기 종료로 평균 1.40× 속도 향상 · 정확도 손실 1.5%p 이내 유지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0.80 추론 결과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Rate · Selection Bias 설명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594360"/>
            <a:ext cx="28346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4C8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594360"/>
            <a:ext cx="2834640" cy="329184"/>
          </a:xfrm>
          <a:prstGeom prst="rect">
            <a:avLst/>
          </a:prstGeom>
          <a:solidFill>
            <a:srgbClr val="4C8EFF"/>
          </a:solidFill>
          <a:ln w="12700">
            <a:solidFill>
              <a:srgbClr val="4C8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594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 (Layer2)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95097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6032" y="155448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쉬운 샘플 — 조기 종료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92.0%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594360"/>
            <a:ext cx="28346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594360"/>
            <a:ext cx="2834640" cy="32918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594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 (Layer3)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95097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19272" y="155448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난이도 샘플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88.2%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82512" y="594360"/>
            <a:ext cx="2834640" cy="1417320"/>
          </a:xfrm>
          <a:prstGeom prst="rect">
            <a:avLst/>
          </a:prstGeom>
          <a:solidFill>
            <a:srgbClr val="FFFFFF"/>
          </a:solidFill>
          <a:ln w="317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82512" y="594360"/>
            <a:ext cx="2834640" cy="3291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594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(Layer4)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95097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382512" y="155448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어려운 샘플 — 끝까지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87.1%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121408"/>
            <a:ext cx="8631936" cy="1417320"/>
          </a:xfrm>
          <a:prstGeom prst="rect">
            <a:avLst/>
          </a:prstGeom>
          <a:solidFill>
            <a:srgbClr val="EAF4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67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— Exit1이 가장 높은 정확도를 보이는 이유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487168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Exit1 (EE1)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신뢰도 ≥ 0.80으로 매우 확신하는 쉬운 샘플만 선택 → 자연히 정확도가 높음
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 exit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EE1, EE2에서 탈락한 어려운 샘플만 도달 → 전체 Exit 중 상대적으로 낮은 정확도
</a:t>
            </a:r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E8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결론: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각 exit의 정확도는 독립 비교 불가 — 모두 모여야 EE Overall 87.10% 달성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639312"/>
            <a:ext cx="863193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657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Exit별 정확도 vs Plain ResNet-18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6886346" cy="15544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950208"/>
            <a:ext cx="1051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89266" y="3950208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146804"/>
            <a:ext cx="6769760" cy="155448"/>
          </a:xfrm>
          <a:prstGeom prst="rect">
            <a:avLst/>
          </a:prstGeom>
          <a:solidFill>
            <a:srgbClr val="E87A2F"/>
          </a:solidFill>
          <a:ln w="12700">
            <a:solidFill>
              <a:srgbClr val="E87A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146804"/>
            <a:ext cx="1051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Overall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72680" y="4146804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7150608" cy="155448"/>
          </a:xfrm>
          <a:prstGeom prst="rect">
            <a:avLst/>
          </a:prstGeom>
          <a:solidFill>
            <a:srgbClr val="4C8EFF"/>
          </a:solidFill>
          <a:ln w="12700">
            <a:solidFill>
              <a:srgbClr val="4C8E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4343400"/>
            <a:ext cx="1051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EE1 (Easy)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53528" y="4343400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8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539996"/>
            <a:ext cx="6855257" cy="1554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539996"/>
            <a:ext cx="1051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EE2 (Mid)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58177" y="4539996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736592"/>
            <a:ext cx="6769760" cy="1554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736592"/>
            <a:ext cx="1051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(Hard)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72680" y="4736592"/>
            <a:ext cx="5486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엔진 벤치마크 — Plain vs EE ResNet-18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 · TensorRT FP16 · threshold=0.80 · n=1,000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8686800" cy="32461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621792"/>
            <a:ext cx="8631936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3913632"/>
            <a:ext cx="20574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3913632"/>
            <a:ext cx="2057400" cy="201168"/>
          </a:xfrm>
          <a:prstGeom prst="rect">
            <a:avLst/>
          </a:prstGeom>
          <a:solidFill>
            <a:srgbClr val="0A8A6E"/>
          </a:solidFill>
          <a:ln w="12700">
            <a:solidFill>
              <a:srgbClr val="0A8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3913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속도 향상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56032" y="41330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1.40×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56032" y="459943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2.04ms → Plain 2.85ms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450592" y="3913632"/>
            <a:ext cx="20574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3913632"/>
            <a:ext cx="2057400" cy="2011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0592" y="3913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속도 향상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450592" y="41330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1.81×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450592" y="459943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1.58ms → Plain 2.86ms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45152" y="3913632"/>
            <a:ext cx="20574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45152" y="3913632"/>
            <a:ext cx="2057400" cy="201168"/>
          </a:xfrm>
          <a:prstGeom prst="rect">
            <a:avLst/>
          </a:prstGeom>
          <a:solidFill>
            <a:srgbClr val="E87A2F"/>
          </a:solidFill>
          <a:ln w="12700">
            <a:solidFill>
              <a:srgbClr val="E87A2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3913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차이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45152" y="41330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645152" y="459943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88.60% → 87.10%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839712" y="3913632"/>
            <a:ext cx="205740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39712" y="3913632"/>
            <a:ext cx="20574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3913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역전 주의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839712" y="413308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839712" y="459943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7.61ms &gt; Plain 4.34ms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858000" y="3913632"/>
            <a:ext cx="205740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69080" cy="1600200"/>
          </a:xfrm>
          <a:prstGeom prst="rect">
            <a:avLst/>
          </a:prstGeom>
          <a:solidFill>
            <a:srgbClr val="0A1525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" y="12527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양자화 (Quantization)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9848" y="160020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→ INT8 캘리브레이션으로 추가 2× 속도 향상 목표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증류(KD)와 병행하여 정확도 손실 최소화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069080" cy="1600200"/>
          </a:xfrm>
          <a:prstGeom prst="rect">
            <a:avLst/>
          </a:prstGeom>
          <a:solidFill>
            <a:srgbClr val="0A1525"/>
          </a:solidFill>
          <a:ln w="25400">
            <a:solidFill>
              <a:srgbClr val="0A8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58968" y="125272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깊은 백본 적용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58968" y="160020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/ MobileNetV3에 Early Exit 적용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ExitHead 설계로 파라미터 오버헤드 최소화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926080"/>
            <a:ext cx="4069080" cy="1600200"/>
          </a:xfrm>
          <a:prstGeom prst="rect">
            <a:avLst/>
          </a:prstGeom>
          <a:solidFill>
            <a:srgbClr val="0A1525"/>
          </a:solidFill>
          <a:ln w="25400">
            <a:solidFill>
              <a:srgbClr val="E87A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7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69848" y="30358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임계값 학습 (Learned Threshold)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338328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threshold 대신 학습 가능한 게이팅 네트워크 도입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배치 특성에 따라 임계값 자동 조정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069080" cy="1600200"/>
          </a:xfrm>
          <a:prstGeom prst="rect">
            <a:avLst/>
          </a:prstGeom>
          <a:solidFill>
            <a:srgbClr val="0A1525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58968" y="303580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오버헤드 제거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58968" y="338328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TRT 오케스트레이터 구현으로 P99 역전 문제 해결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 엔진 전환 지연 최소화 → EE P99 개선 기대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ResNet-18  ·  Capstone Design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Early-Exit ResNet-18 for Efficient Edge Inference</dc:title>
  <dc:subject>PptxGenJS Presentation</dc:subject>
  <dc:creator>찬휘</dc:creator>
  <cp:lastModifiedBy>찬휘</cp:lastModifiedBy>
  <cp:revision>1</cp:revision>
  <dcterms:created xsi:type="dcterms:W3CDTF">2026-03-25T06:22:33Z</dcterms:created>
  <dcterms:modified xsi:type="dcterms:W3CDTF">2026-03-25T06:22:33Z</dcterms:modified>
</cp:coreProperties>
</file>